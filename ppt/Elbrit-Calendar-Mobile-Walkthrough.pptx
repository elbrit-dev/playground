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0" y="0"/>
            <a:ext cx="5287975" cy="6858000"/>
          </a:xfrm>
          <a:prstGeom prst="rect">
            <a:avLst/>
          </a:prstGeom>
          <a:solidFill>
            <a:srgbClr val="1D3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>
                <a:solidFill>
                  <a:srgbClr val="8FB2F2"/>
                </a:solidFill>
                <a:latin typeface="Segoe UI"/>
              </a:rPr>
              <a:t>PRODUCT WALKTHROUGH  ·  FIELD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57607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Elbrit Calendar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1">
                <a:solidFill>
                  <a:srgbClr val="8FB2F2"/>
                </a:solidFill>
                <a:latin typeface="Segoe UI"/>
              </a:rPr>
              <a:t>Mobile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" y="3529584"/>
            <a:ext cx="1280160" cy="45720"/>
          </a:xfrm>
          <a:prstGeom prst="rect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785615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0">
                <a:solidFill>
                  <a:srgbClr val="C7D4E8"/>
                </a:solidFill>
                <a:latin typeface="Segoe UI"/>
              </a:rPr>
              <a:t>One place to plan, share and close a field day — HQ tour plans, doctor visits, leave, to-dos and meetings.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46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>
                <a:solidFill>
                  <a:srgbClr val="8FB2F2"/>
                </a:solidFill>
                <a:latin typeface="Segoe UI"/>
              </a:rPr>
              <a:t>TOLD FROM TWO PERSPECTIVES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175504"/>
            <a:ext cx="658368" cy="29260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6504" y="522122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>
                <a:solidFill>
                  <a:srgbClr val="C7D4E8"/>
                </a:solidFill>
                <a:latin typeface="Segoe UI"/>
              </a:rPr>
              <a:t>the reporting person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596128"/>
            <a:ext cx="658368" cy="292608"/>
          </a:xfrm>
          <a:prstGeom prst="round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564184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>
                <a:solidFill>
                  <a:srgbClr val="C7D4E8"/>
                </a:solidFill>
                <a:latin typeface="Segoe UI"/>
              </a:rPr>
              <a:t>the manager above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9887" y="635508"/>
            <a:ext cx="2631186" cy="5586984"/>
          </a:xfrm>
          <a:prstGeom prst="round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WhatsApp Image 2026-08-31 at 12.20.15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179" y="685800"/>
            <a:ext cx="253060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0E7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FB2F2"/>
                </a:solidFill>
                <a:latin typeface="Segoe UI"/>
              </a:rPr>
              <a:t>01 · WHO USES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Same app, two perspectives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834" y="1248156"/>
            <a:ext cx="2230507" cy="4718304"/>
          </a:xfrm>
          <a:prstGeom prst="round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WhatsApp Image 2026-08-31 at 12.20.16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26" y="1298448"/>
            <a:ext cx="2129923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6044183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BE — my own day, my own plans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64138" y="1248156"/>
            <a:ext cx="2230507" cy="4718304"/>
          </a:xfrm>
          <a:prstGeom prst="round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WhatsApp Image 2026-08-31 at 12.20.17 PM (2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430" y="1298448"/>
            <a:ext cx="212992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99815" y="6044183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C26A05"/>
                </a:solidFill>
                <a:latin typeface="Segoe UI"/>
              </a:rPr>
              <a:t>ABM — switch into a BE's 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316736"/>
            <a:ext cx="932688" cy="3108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134416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316736"/>
            <a:ext cx="932688" cy="310896"/>
          </a:xfrm>
          <a:prstGeom prst="round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134416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9952" y="1316736"/>
            <a:ext cx="932688" cy="31089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RBM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34416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59568" y="1316736"/>
            <a:ext cx="932688" cy="310896"/>
          </a:xfrm>
          <a:prstGeom prst="roundRect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737360"/>
            <a:ext cx="5864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8A93A3"/>
                </a:solidFill>
                <a:latin typeface="Segoe UI"/>
              </a:rPr>
              <a:t>Reporting chain — each level sees itself and everyone below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121408"/>
            <a:ext cx="5864047" cy="17512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2121408"/>
            <a:ext cx="50292" cy="175125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61888" y="2221991"/>
            <a:ext cx="676656" cy="25603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3" y="2240279"/>
            <a:ext cx="4675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The reporting person — plans and executes</a:t>
            </a:r>
          </a:p>
        </p:txBody>
      </p:sp>
      <p:sp>
        <p:nvSpPr>
          <p:cNvPr id="24" name="Oval 23"/>
          <p:cNvSpPr/>
          <p:nvPr/>
        </p:nvSpPr>
        <p:spPr>
          <a:xfrm>
            <a:off x="6089904" y="265633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596896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Books their own HQ tour plan, doctor visits, leave and to-dos.</a:t>
            </a:r>
          </a:p>
        </p:txBody>
      </p:sp>
      <p:sp>
        <p:nvSpPr>
          <p:cNvPr id="26" name="Oval 25"/>
          <p:cNvSpPr/>
          <p:nvPr/>
        </p:nvSpPr>
        <p:spPr>
          <a:xfrm>
            <a:off x="6089904" y="293869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879262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Shares each plan upward so the manager sees it without asking.</a:t>
            </a:r>
          </a:p>
        </p:txBody>
      </p:sp>
      <p:sp>
        <p:nvSpPr>
          <p:cNvPr id="28" name="Oval 27"/>
          <p:cNvSpPr/>
          <p:nvPr/>
        </p:nvSpPr>
        <p:spPr>
          <a:xfrm>
            <a:off x="6089904" y="3221065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3161629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Runs the call, adds notes on the visit card and marks it Visited.</a:t>
            </a:r>
          </a:p>
        </p:txBody>
      </p:sp>
      <p:sp>
        <p:nvSpPr>
          <p:cNvPr id="30" name="Oval 29"/>
          <p:cNvSpPr/>
          <p:nvPr/>
        </p:nvSpPr>
        <p:spPr>
          <a:xfrm>
            <a:off x="6089904" y="350343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3443996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Sees only their own calendar by default.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4224528"/>
            <a:ext cx="5864047" cy="17512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0" y="4224528"/>
            <a:ext cx="50292" cy="1751258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61888" y="4325112"/>
            <a:ext cx="676656" cy="256032"/>
          </a:xfrm>
          <a:prstGeom prst="round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ABM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3" y="4343400"/>
            <a:ext cx="4675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The manager above — supervises and joins</a:t>
            </a:r>
          </a:p>
        </p:txBody>
      </p:sp>
      <p:sp>
        <p:nvSpPr>
          <p:cNvPr id="36" name="Oval 35"/>
          <p:cNvSpPr/>
          <p:nvPr/>
        </p:nvSpPr>
        <p:spPr>
          <a:xfrm>
            <a:off x="6089904" y="4759452"/>
            <a:ext cx="73152" cy="73152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4700016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Filters into any reporting BE's calendar and reads their month.</a:t>
            </a:r>
          </a:p>
        </p:txBody>
      </p:sp>
      <p:sp>
        <p:nvSpPr>
          <p:cNvPr id="38" name="Oval 37"/>
          <p:cNvSpPr/>
          <p:nvPr/>
        </p:nvSpPr>
        <p:spPr>
          <a:xfrm>
            <a:off x="6089904" y="5041818"/>
            <a:ext cx="73152" cy="73152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4982382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Joins a BE's doctor call instead of creating a duplicate entry.</a:t>
            </a:r>
          </a:p>
        </p:txBody>
      </p:sp>
      <p:sp>
        <p:nvSpPr>
          <p:cNvPr id="40" name="Oval 39"/>
          <p:cNvSpPr/>
          <p:nvPr/>
        </p:nvSpPr>
        <p:spPr>
          <a:xfrm>
            <a:off x="6089904" y="5324185"/>
            <a:ext cx="73152" cy="73152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264749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Creates plans on behalf of the team and shares them down.</a:t>
            </a:r>
          </a:p>
        </p:txBody>
      </p:sp>
      <p:sp>
        <p:nvSpPr>
          <p:cNvPr id="42" name="Oval 41"/>
          <p:cNvSpPr/>
          <p:nvPr/>
        </p:nvSpPr>
        <p:spPr>
          <a:xfrm>
            <a:off x="6089904" y="5606552"/>
            <a:ext cx="73152" cy="73152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5547116"/>
            <a:ext cx="5132527" cy="28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Schedules team meetings that land on every invitee's calendar.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1908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Segoe UI"/>
              </a:rPr>
              <a:t>Elbrit Calendar  ·  Mobile walkthrough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19088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A93A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8016"/>
            <a:ext cx="932688" cy="25603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BE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FB2F2"/>
                </a:solidFill>
                <a:latin typeface="Segoe UI"/>
              </a:rPr>
              <a:t>02 · PLANNING THE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One + button, five kinds of event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834" y="1248156"/>
            <a:ext cx="2230507" cy="4718304"/>
          </a:xfrm>
          <a:prstGeom prst="round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WhatsApp Image 2026-08-31 at 12.20.15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26" y="1298448"/>
            <a:ext cx="212992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044183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The + button fans out five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4138" y="1248156"/>
            <a:ext cx="2230507" cy="4718304"/>
          </a:xfrm>
          <a:prstGeom prst="round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WhatsApp Image 2026-08-31 at 12.20.16 PM (3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430" y="1298448"/>
            <a:ext cx="2129923" cy="461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9815" y="6044183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HQ Tour Plan — territory +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298448"/>
            <a:ext cx="5864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35C6B"/>
                </a:solidFill>
                <a:latin typeface="Segoe UI"/>
              </a:rPr>
              <a:t>Everything on the calendar is one of five event types, all created from the same floating + button.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74519"/>
            <a:ext cx="5864047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920239"/>
            <a:ext cx="45720" cy="83791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25312" y="2020824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029967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Leave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266569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Blocks the day. Once leave is booked the app disables adding a tour plan on that date.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857785"/>
            <a:ext cx="5864047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2903505"/>
            <a:ext cx="45720" cy="83791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25312" y="3004089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013233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HQ Tour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249834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The territory the BE will work in — same Date and End Date books one day, different dates repeat the plan across the range in one submit.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841051"/>
            <a:ext cx="5864047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3886771"/>
            <a:ext cx="45720" cy="837910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25312" y="3987355"/>
            <a:ext cx="274320" cy="274320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996499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HQ Territory picker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233100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Searchable list — Vellore, Trichy, Tirunelveli, Tanjore, Salem, Pondicherry, Nagercoil, Madurai. The selection turns blue.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4824317"/>
            <a:ext cx="5864047" cy="738423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4870037"/>
            <a:ext cx="45720" cy="646983"/>
          </a:xfrm>
          <a:prstGeom prst="rect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25312" y="4970621"/>
            <a:ext cx="274320" cy="274320"/>
          </a:xfrm>
          <a:prstGeom prst="ellipse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979765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Shared With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5216366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Adding the manager here is what makes the plan visible upward.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5616656"/>
            <a:ext cx="5864047" cy="738423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720" y="5662376"/>
            <a:ext cx="45720" cy="646983"/>
          </a:xfrm>
          <a:prstGeom prst="rect">
            <a:avLst/>
          </a:prstGeom>
          <a:solidFill>
            <a:srgbClr val="0E7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25312" y="5762960"/>
            <a:ext cx="274320" cy="274320"/>
          </a:xfrm>
          <a:prstGeom prst="ellipse">
            <a:avLst/>
          </a:prstGeom>
          <a:solidFill>
            <a:srgbClr val="0E7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772104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Todo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6008705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Personal follow-up items pinned to a date.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1908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Segoe UI"/>
              </a:rPr>
              <a:t>Elbrit Calendar  ·  Mobile walkthrough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19088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A93A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8016"/>
            <a:ext cx="932688" cy="25603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BE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FB2F2"/>
                </a:solidFill>
                <a:latin typeface="Segoe UI"/>
              </a:rPr>
              <a:t>03 · RUNNING THE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Doctor visits — from plan to closed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834" y="1248156"/>
            <a:ext cx="2230507" cy="4718304"/>
          </a:xfrm>
          <a:prstGeom prst="round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WhatsApp Image 2026-08-31 at 12.20.17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26" y="1298448"/>
            <a:ext cx="212992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044183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DR Tour Plan — pick the doctors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4138" y="1248156"/>
            <a:ext cx="2230507" cy="4718304"/>
          </a:xfrm>
          <a:prstGeom prst="round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WhatsApp Image 2026-08-31 at 12.20.16 PM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430" y="1298448"/>
            <a:ext cx="2129923" cy="461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9815" y="6044183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Own visit — Remove or 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298448"/>
            <a:ext cx="5864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35C6B"/>
                </a:solidFill>
                <a:latin typeface="Segoe UI"/>
              </a:rPr>
              <a:t>The HQ plan is the parent record; every doctor visit hangs underneath it on the same 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74519"/>
            <a:ext cx="5864047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920239"/>
            <a:ext cx="45720" cy="837910"/>
          </a:xfrm>
          <a:prstGeom prst="rect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25312" y="2020824"/>
            <a:ext cx="274320" cy="274320"/>
          </a:xfrm>
          <a:prstGeom prst="ellipse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029967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Doctor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266569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Search by name or DR code, filter by category, tick as many doctors as needed — each becomes its own visit.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857785"/>
            <a:ext cx="5864047" cy="738423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2903505"/>
            <a:ext cx="45720" cy="646983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25312" y="3004089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013233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Doctor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249834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Name, unique code (DR-36661), class tag and the doctor's HQ.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650124"/>
            <a:ext cx="5864047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3695844"/>
            <a:ext cx="45720" cy="837910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25312" y="3796428"/>
            <a:ext cx="274320" cy="274320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805572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The visit 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42173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OPEN badge until the call is closed, with doctor, city, HQ territory and the creator's name, ID and email.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4633390"/>
            <a:ext cx="5864047" cy="738423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4679110"/>
            <a:ext cx="45720" cy="64698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25312" y="4779694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788838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5025439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Time-stamped notes added before or after the call.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5425729"/>
            <a:ext cx="5864047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720" y="5471449"/>
            <a:ext cx="45720" cy="837910"/>
          </a:xfrm>
          <a:prstGeom prst="rect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25312" y="5572033"/>
            <a:ext cx="274320" cy="274320"/>
          </a:xfrm>
          <a:prstGeom prst="ellipse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581177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Remove / Visit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817778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Owner-only actions — drop the plan, or mark the call done and move it off OPEN.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1908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Segoe UI"/>
              </a:rPr>
              <a:t>Elbrit Calendar  ·  Mobile walkthrough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19088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A93A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8016"/>
            <a:ext cx="932688" cy="256032"/>
          </a:xfrm>
          <a:prstGeom prst="round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ABM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FB2F2"/>
                </a:solidFill>
                <a:latin typeface="Segoe UI"/>
              </a:rPr>
              <a:t>04 · SUPERVISING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What changes when the manager opens the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834" y="1248156"/>
            <a:ext cx="2230507" cy="4718304"/>
          </a:xfrm>
          <a:prstGeom prst="round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WhatsApp Image 2026-08-31 at 12.20.16 P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26" y="1298448"/>
            <a:ext cx="212992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044183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C26A05"/>
                </a:solidFill>
                <a:latin typeface="Segoe UI"/>
              </a:rPr>
              <a:t>Shared plan — the button is Join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4138" y="1248156"/>
            <a:ext cx="2230507" cy="4718304"/>
          </a:xfrm>
          <a:prstGeom prst="round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WhatsApp Image 2026-08-31 at 12.20.17 PM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430" y="1298448"/>
            <a:ext cx="2129923" cy="461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9815" y="6044183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C26A05"/>
                </a:solidFill>
                <a:latin typeface="Segoe UI"/>
              </a:rPr>
              <a:t>Meeting — physical or virtual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298448"/>
            <a:ext cx="5864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35C6B"/>
                </a:solidFill>
                <a:latin typeface="Segoe UI"/>
              </a:rPr>
              <a:t>Same screens, different rights. Ownership decides the action buttons; the filter decides whose month you are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74519"/>
            <a:ext cx="5864047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920239"/>
            <a:ext cx="45720" cy="837910"/>
          </a:xfrm>
          <a:prstGeom prst="rect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25312" y="2020824"/>
            <a:ext cx="274320" cy="274320"/>
          </a:xfrm>
          <a:prstGeom prst="ellipse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029967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Join, not duplicate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266569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On someone else's plan the red Remove becomes a green Join — joint work sits on one entry.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857785"/>
            <a:ext cx="5864047" cy="738423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2903505"/>
            <a:ext cx="45720" cy="646983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25312" y="3004089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013233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Participants and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249834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Everyone on the call is listed with a role tag — SM, RBM, ABM.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650124"/>
            <a:ext cx="5864047" cy="738423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3695844"/>
            <a:ext cx="45720" cy="64698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25312" y="379642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805572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Share downward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42173"/>
            <a:ext cx="5114239" cy="73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The share icon adds people to an existing plan at any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4442463"/>
            <a:ext cx="5864047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4488183"/>
            <a:ext cx="45720" cy="837910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25312" y="4588767"/>
            <a:ext cx="274320" cy="274320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597911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Team calendar filter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4834512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The eye icon opens "Viewing 1 calendar" — swap into any reporting BE's month, then Clear filter.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5425729"/>
            <a:ext cx="5864047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720" y="5471449"/>
            <a:ext cx="45720" cy="837910"/>
          </a:xfrm>
          <a:prstGeom prst="rect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25312" y="5572033"/>
            <a:ext cx="274320" cy="274320"/>
          </a:xfrm>
          <a:prstGeom prst="ellipse">
            <a:avLst/>
          </a:prstGeom>
          <a:solidFill>
            <a:srgbClr val="E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581177"/>
            <a:ext cx="5114239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Meetings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817778"/>
            <a:ext cx="5114239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Title, date, all-day toggle, Physical or Virtual, venue, time slot, invitees and a rich-text agenda.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1908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Segoe UI"/>
              </a:rPr>
              <a:t>Elbrit Calendar  ·  Mobile walkthrough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19088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A93A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0E7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FB2F2"/>
                </a:solidFill>
                <a:latin typeface="Segoe UI"/>
              </a:rPr>
              <a:t>05 ·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The two journeys, side by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61872"/>
            <a:ext cx="1261872" cy="106070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26187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261872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5960" y="1261872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463039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Plan the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1764792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Territory for a date or a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64591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261872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261872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463039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Add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764792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Multi-select the doctors for that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164591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58583" y="1261872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58583" y="1261872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3175" y="1463039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Share upward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5" y="1764792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Manager sees the plan without asking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5" y="164591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54896" y="1261872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54896" y="1261872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9488" y="1463039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Close the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1764792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Add notes, then hit Visit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487168"/>
            <a:ext cx="1261872" cy="1060704"/>
          </a:xfrm>
          <a:prstGeom prst="round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2761488"/>
            <a:ext cx="126187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ABM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2487168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65960" y="2487168"/>
            <a:ext cx="2313432" cy="64008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30552" y="2688336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Filter the 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0552" y="2990088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Open any reporting BE's 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287121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62272" y="2487168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62272" y="2487168"/>
            <a:ext cx="2313432" cy="64008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2688336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Read the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2990088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HQ, doctors, leave and gaps per 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75704" y="287121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58583" y="2487168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58583" y="2487168"/>
            <a:ext cx="2313432" cy="64008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23175" y="2688336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Join a 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5" y="2990088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One entry, two people, roles tagged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2015" y="287121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8A93A3"/>
                </a:solidFill>
                <a:latin typeface="Segoe U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54896" y="2487168"/>
            <a:ext cx="2313432" cy="1060704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54896" y="2487168"/>
            <a:ext cx="2313432" cy="64008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19488" y="2688336"/>
            <a:ext cx="19842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Call a meeting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2990088"/>
            <a:ext cx="1984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19" b="0">
                <a:solidFill>
                  <a:srgbClr val="535C6B"/>
                </a:solidFill>
                <a:latin typeface="Segoe UI"/>
              </a:rPr>
              <a:t>Invitees get it on their calendar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85876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50" b="1">
                <a:solidFill>
                  <a:srgbClr val="1A2230"/>
                </a:solidFill>
                <a:latin typeface="Segoe UI"/>
              </a:rPr>
              <a:t>Guard rails built 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4187952"/>
            <a:ext cx="3535680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4233672"/>
            <a:ext cx="45720" cy="83791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31520" y="433425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" y="4343400"/>
            <a:ext cx="2785872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Leave blocks tour plans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" y="4580001"/>
            <a:ext cx="2785872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Adding an event on a date the employee is on leave is disabled.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31208" y="4187952"/>
            <a:ext cx="3535680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31208" y="4233672"/>
            <a:ext cx="45720" cy="837910"/>
          </a:xfrm>
          <a:prstGeom prst="rect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95800" y="4334256"/>
            <a:ext cx="274320" cy="274320"/>
          </a:xfrm>
          <a:prstGeom prst="ellipse">
            <a:avLst/>
          </a:prstGeom>
          <a:solidFill>
            <a:srgbClr val="10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8136" y="4343400"/>
            <a:ext cx="2785872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No duplicate entries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98136" y="4580001"/>
            <a:ext cx="2785872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Submitting the same plan twice for the same date is rejected.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95488" y="4187952"/>
            <a:ext cx="3535680" cy="92935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95488" y="4233672"/>
            <a:ext cx="45720" cy="837910"/>
          </a:xfrm>
          <a:prstGeom prst="rect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60080" y="4334256"/>
            <a:ext cx="274320" cy="274320"/>
          </a:xfrm>
          <a:prstGeom prst="ellipse">
            <a:avLst/>
          </a:prstGeom>
          <a:solidFill>
            <a:srgbClr val="C26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62416" y="4343400"/>
            <a:ext cx="2785872" cy="24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A2230"/>
                </a:solidFill>
                <a:latin typeface="Segoe UI"/>
              </a:rPr>
              <a:t>Ownership is explicit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62416" y="4580001"/>
            <a:ext cx="2785872" cy="929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535C6B"/>
                </a:solidFill>
                <a:latin typeface="Segoe UI"/>
              </a:rPr>
              <a:t>Only the creator sees Remove; shared users see Join.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" y="5440680"/>
            <a:ext cx="11064240" cy="731520"/>
          </a:xfrm>
          <a:prstGeom prst="roundRect">
            <a:avLst/>
          </a:prstGeom>
          <a:solidFill>
            <a:srgbClr val="14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641908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Segoe UI"/>
              </a:rPr>
              <a:t>Elbrit Calendar  ·  Mobile walkthrough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02975" y="6419088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>
                <a:solidFill>
                  <a:srgbClr val="8A93A3"/>
                </a:solidFill>
                <a:latin typeface="Segoe UI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561441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8FB2F2"/>
                </a:solidFill>
                <a:latin typeface="Segoe UI"/>
              </a:rPr>
              <a:t>BE plans and closes.</a:t>
            </a:r>
            <a:r>
              <a:rPr sz="1300" b="0">
                <a:solidFill>
                  <a:srgbClr val="C7D4E8"/>
                </a:solidFill>
                <a:latin typeface="Segoe UI"/>
              </a:rPr>
              <a:t>   </a:t>
            </a:r>
            <a:r>
              <a:rPr sz="1300" b="1">
                <a:solidFill>
                  <a:srgbClr val="FFFFFF"/>
                </a:solidFill>
                <a:latin typeface="Segoe UI"/>
              </a:rPr>
              <a:t>ABM reads, joins and directs.</a:t>
            </a:r>
            <a:r>
              <a:rPr sz="1300" b="0">
                <a:solidFill>
                  <a:srgbClr val="C7D4E8"/>
                </a:solidFill>
                <a:latin typeface="Segoe UI"/>
              </a:rPr>
              <a:t>   One calendar carries both.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