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1D3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>
                <a:solidFill>
                  <a:srgbClr val="8FB2F2"/>
                </a:solidFill>
                <a:latin typeface="Segoe UI"/>
              </a:rPr>
              <a:t>PRODUCT WALKTHROUGH  ·  FIELD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57607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Elbrit Calendar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>
                <a:solidFill>
                  <a:srgbClr val="8FB2F2"/>
                </a:solidFill>
                <a:latin typeface="Segoe UI"/>
              </a:rPr>
              <a:t>Mobile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" y="3529584"/>
            <a:ext cx="1280160" cy="4572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85615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0">
                <a:solidFill>
                  <a:srgbClr val="C7D4E8"/>
                </a:solidFill>
                <a:latin typeface="Segoe UI"/>
              </a:rPr>
              <a:t>One place to plan, share and close a field day — HQ tour plans, doctor visits, leave, to-dos and meetings.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46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8FB2F2"/>
                </a:solidFill>
                <a:latin typeface="Segoe UI"/>
              </a:rPr>
              <a:t>TOLD FROM TWO PERSPECTIVES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175504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6504" y="522122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>
                <a:solidFill>
                  <a:srgbClr val="C7D4E8"/>
                </a:solidFill>
                <a:latin typeface="Segoe UI"/>
              </a:rPr>
              <a:t>the reporting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5961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564184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>
                <a:solidFill>
                  <a:srgbClr val="C7D4E8"/>
                </a:solidFill>
                <a:latin typeface="Segoe UI"/>
              </a:rPr>
              <a:t>the manager above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2818" y="635508"/>
            <a:ext cx="2825323" cy="5586984"/>
          </a:xfrm>
          <a:prstGeom prst="roundRect">
            <a:avLst>
              <a:gd name="adj" fmla="val 3721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110" y="685800"/>
            <a:ext cx="272473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01 · WHO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Same app, two perspectives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44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36" y="1261872"/>
            <a:ext cx="2234286" cy="4498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3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BE — my own day, my own 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11956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248" y="1261872"/>
            <a:ext cx="2234286" cy="4498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99815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C26A05"/>
                </a:solidFill>
                <a:latin typeface="Segoe UI"/>
              </a:rPr>
              <a:t>ABM — switch into a BE's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316736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34416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316736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134416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1316736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RBM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34416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59568" y="1316736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737360"/>
            <a:ext cx="5864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Segoe UI"/>
              </a:rPr>
              <a:t>Reporting chain — each level sees itself and everyone below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121408"/>
            <a:ext cx="5864047" cy="1751258"/>
          </a:xfrm>
          <a:prstGeom prst="roundRect">
            <a:avLst>
              <a:gd name="adj" fmla="val 522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2121408"/>
            <a:ext cx="50292" cy="175125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61888" y="2221991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2240279"/>
            <a:ext cx="4675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The reporting person — plans and executes</a:t>
            </a:r>
          </a:p>
        </p:txBody>
      </p:sp>
      <p:sp>
        <p:nvSpPr>
          <p:cNvPr id="24" name="Oval 23"/>
          <p:cNvSpPr/>
          <p:nvPr/>
        </p:nvSpPr>
        <p:spPr>
          <a:xfrm>
            <a:off x="6089904" y="26563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59689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Books their own HQ tour plan, doctor visits, leave and to-dos.</a:t>
            </a:r>
          </a:p>
        </p:txBody>
      </p:sp>
      <p:sp>
        <p:nvSpPr>
          <p:cNvPr id="26" name="Oval 25"/>
          <p:cNvSpPr/>
          <p:nvPr/>
        </p:nvSpPr>
        <p:spPr>
          <a:xfrm>
            <a:off x="6089904" y="293869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879262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Shares each plan upward so the manager sees it without asking.</a:t>
            </a:r>
          </a:p>
        </p:txBody>
      </p:sp>
      <p:sp>
        <p:nvSpPr>
          <p:cNvPr id="28" name="Oval 27"/>
          <p:cNvSpPr/>
          <p:nvPr/>
        </p:nvSpPr>
        <p:spPr>
          <a:xfrm>
            <a:off x="6089904" y="3221065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3161629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Runs the call, adds notes on the visit card and marks it Visited.</a:t>
            </a:r>
          </a:p>
        </p:txBody>
      </p:sp>
      <p:sp>
        <p:nvSpPr>
          <p:cNvPr id="30" name="Oval 29"/>
          <p:cNvSpPr/>
          <p:nvPr/>
        </p:nvSpPr>
        <p:spPr>
          <a:xfrm>
            <a:off x="6089904" y="35034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44399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Sees only their own calendar by default.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4224528"/>
            <a:ext cx="5864047" cy="1751258"/>
          </a:xfrm>
          <a:prstGeom prst="roundRect">
            <a:avLst>
              <a:gd name="adj" fmla="val 522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4224528"/>
            <a:ext cx="50292" cy="175125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61888" y="4325112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3" y="4343400"/>
            <a:ext cx="4675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The manager above — supervises and joins</a:t>
            </a:r>
          </a:p>
        </p:txBody>
      </p:sp>
      <p:sp>
        <p:nvSpPr>
          <p:cNvPr id="36" name="Oval 35"/>
          <p:cNvSpPr/>
          <p:nvPr/>
        </p:nvSpPr>
        <p:spPr>
          <a:xfrm>
            <a:off x="6089904" y="4759452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470001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Filters into any reporting BE's calendar and reads their month.</a:t>
            </a:r>
          </a:p>
        </p:txBody>
      </p:sp>
      <p:sp>
        <p:nvSpPr>
          <p:cNvPr id="38" name="Oval 37"/>
          <p:cNvSpPr/>
          <p:nvPr/>
        </p:nvSpPr>
        <p:spPr>
          <a:xfrm>
            <a:off x="6089904" y="5041818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982382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Joins a BE's doctor call instead of creating a duplicate entry.</a:t>
            </a:r>
          </a:p>
        </p:txBody>
      </p:sp>
      <p:sp>
        <p:nvSpPr>
          <p:cNvPr id="40" name="Oval 39"/>
          <p:cNvSpPr/>
          <p:nvPr/>
        </p:nvSpPr>
        <p:spPr>
          <a:xfrm>
            <a:off x="6089904" y="5324185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264749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Creates plans on behalf of the team and shares them down.</a:t>
            </a:r>
          </a:p>
        </p:txBody>
      </p:sp>
      <p:sp>
        <p:nvSpPr>
          <p:cNvPr id="42" name="Oval 41"/>
          <p:cNvSpPr/>
          <p:nvPr/>
        </p:nvSpPr>
        <p:spPr>
          <a:xfrm>
            <a:off x="6089904" y="5606552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554711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Schedules team meetings that land on every invitee's calendar.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8016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BE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02 · PLANNING THE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One + button, five kinds of 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44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f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36" y="1261872"/>
            <a:ext cx="2234286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3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The + button fans out five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1956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dd_h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248" y="1261872"/>
            <a:ext cx="2234286" cy="4498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9815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HQ Tour Plan — territory +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98448"/>
            <a:ext cx="5864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35C6B"/>
                </a:solidFill>
                <a:latin typeface="Segoe UI"/>
              </a:rPr>
              <a:t>Everything on the calendar is one of five event types, all created from the same floating + button.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74519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20239"/>
            <a:ext cx="45720" cy="83791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312" y="202082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Leave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66569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Blocks the day. Once leave is booked the app disables adding a tour plan on that 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857785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903505"/>
            <a:ext cx="45720" cy="83791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300408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013233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HQ Tour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49834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The territory the BE will work in — same Date and End Date books one day, different dates repeat the plan across the range in one submit.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841051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886771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25312" y="3987355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996499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HQ Territory picker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233100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Searchable list — Vellore, Trichy, Tirunelveli, Tanjore, Salem, Pondicherry, Nagercoil, Madurai. The selection turns blue.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824317"/>
            <a:ext cx="5864047" cy="738423"/>
          </a:xfrm>
          <a:prstGeom prst="roundRect">
            <a:avLst>
              <a:gd name="adj" fmla="val 11144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4870037"/>
            <a:ext cx="45720" cy="646983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5312" y="4970621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979765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Shared With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5216366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Adding the manager here is what makes the plan visible upward.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616656"/>
            <a:ext cx="5864047" cy="738423"/>
          </a:xfrm>
          <a:prstGeom prst="roundRect">
            <a:avLst>
              <a:gd name="adj" fmla="val 11144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5662376"/>
            <a:ext cx="45720" cy="646983"/>
          </a:xfrm>
          <a:prstGeom prst="rect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5312" y="5762960"/>
            <a:ext cx="274320" cy="274320"/>
          </a:xfrm>
          <a:prstGeom prst="ellipse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72104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Todo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6008705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Personal follow-up items pinned to a date.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8016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BE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03 · RUNNING THE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Doctor visits — from plan to closed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44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add_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36" y="1261872"/>
            <a:ext cx="2234286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3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DR Tour Plan — pick the doctors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1956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detail_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248" y="1261872"/>
            <a:ext cx="2234286" cy="4498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9815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Own visit — Remove or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98448"/>
            <a:ext cx="5864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35C6B"/>
                </a:solidFill>
                <a:latin typeface="Segoe UI"/>
              </a:rPr>
              <a:t>The HQ plan is the parent record; every doctor visit hangs underneath it on the same 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74519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20239"/>
            <a:ext cx="45720" cy="837910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312" y="2020824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Doctor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66569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Search by name or DR code, filter by category, tick as many doctors as needed — each becomes its own visit.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857785"/>
            <a:ext cx="5864047" cy="738423"/>
          </a:xfrm>
          <a:prstGeom prst="roundRect">
            <a:avLst>
              <a:gd name="adj" fmla="val 11144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903505"/>
            <a:ext cx="45720" cy="64698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300408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013233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Doctor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49834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Name, unique code (DR-36661), class tag and the doctor's HQ.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650124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695844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25312" y="3796428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05572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The visit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42173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OPEN badge until the call is closed, with doctor, city, HQ territory and the creator's name, ID and email.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633390"/>
            <a:ext cx="5864047" cy="738423"/>
          </a:xfrm>
          <a:prstGeom prst="roundRect">
            <a:avLst>
              <a:gd name="adj" fmla="val 11144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4679110"/>
            <a:ext cx="45720" cy="64698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5312" y="477969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788838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5025439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Time-stamped notes added before or after the call.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425729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5471449"/>
            <a:ext cx="45720" cy="83791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5312" y="5572033"/>
            <a:ext cx="274320" cy="274320"/>
          </a:xfrm>
          <a:prstGeom prst="ellipse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58117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Remove / Visit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817778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Owner-only actions — drop the plan, or mark the call done and move it off OPEN.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8016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ABM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04 · SUPERVISING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What changes when the manager opens the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44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detail_sha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36" y="1261872"/>
            <a:ext cx="2234286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3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C26A05"/>
                </a:solidFill>
                <a:latin typeface="Segoe UI"/>
              </a:rPr>
              <a:t>Shared plan — the button is Join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1956" y="1211580"/>
            <a:ext cx="2334870" cy="4599432"/>
          </a:xfrm>
          <a:prstGeom prst="roundRect">
            <a:avLst>
              <a:gd name="adj" fmla="val 4503"/>
            </a:avLst>
          </a:prstGeom>
          <a:solidFill>
            <a:srgbClr val="25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dd_m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248" y="1261872"/>
            <a:ext cx="2234286" cy="4498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9815" y="5943600"/>
            <a:ext cx="23591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C26A05"/>
                </a:solidFill>
                <a:latin typeface="Segoe UI"/>
              </a:rPr>
              <a:t>Meeting — physical or virtual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98448"/>
            <a:ext cx="5864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35C6B"/>
                </a:solidFill>
                <a:latin typeface="Segoe UI"/>
              </a:rPr>
              <a:t>Same screens, different rights. Ownership decides the action buttons; the filter decides whose month you are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74519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20239"/>
            <a:ext cx="45720" cy="837910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312" y="2020824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Join, not duplicate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66569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On someone else's plan the red Remove becomes a green Join — joint work sits on one entry.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857785"/>
            <a:ext cx="5864047" cy="738423"/>
          </a:xfrm>
          <a:prstGeom prst="roundRect">
            <a:avLst>
              <a:gd name="adj" fmla="val 11144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903505"/>
            <a:ext cx="45720" cy="64698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300408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013233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Participants and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49834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Everyone on the call is listed with a role tag — SM, RBM, ABM.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650124"/>
            <a:ext cx="5864047" cy="738423"/>
          </a:xfrm>
          <a:prstGeom prst="roundRect">
            <a:avLst>
              <a:gd name="adj" fmla="val 11144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695844"/>
            <a:ext cx="45720" cy="64698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25312" y="379642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05572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Share downward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42173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The share icon adds people to an existing plan at any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442463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4488183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5312" y="4588767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597911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Team calendar filter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834512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The eye icon opens "Viewing 1 calendar" — swap into any reporting BE's month, then Clear filter.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425729"/>
            <a:ext cx="5864047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5471449"/>
            <a:ext cx="45720" cy="83791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5312" y="5572033"/>
            <a:ext cx="274320" cy="274320"/>
          </a:xfrm>
          <a:prstGeom prst="ellipse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58117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Meetings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817778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Title, date, all-day toggle, Physical or Virtual, venue, time slot, invitees and a rich-text agenda.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05 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The two journeys, side by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61872"/>
            <a:ext cx="1261872" cy="106070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26187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Plan the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Territory for a date or a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64591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Add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Multi-select the doctors for that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64591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8583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58583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3175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Share upward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5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Manager sees the plan without asking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164591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54896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54896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Close the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Add notes, then hit Visit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487168"/>
            <a:ext cx="1261872" cy="1060704"/>
          </a:xfrm>
          <a:prstGeom prst="round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2761488"/>
            <a:ext cx="126187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5960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0552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Filter the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0552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Open any reporting BE's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287121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62272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62272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Read the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HQ, doctors, leave and gaps per 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5704" y="287121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58583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58583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23175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Join a 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5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One entry, two people, roles tagged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5" y="287121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54896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54896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9488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Call a meeting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Invitees get it on their calendar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85876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50" b="1">
                <a:solidFill>
                  <a:srgbClr val="1A2230"/>
                </a:solidFill>
                <a:latin typeface="Segoe UI"/>
              </a:rPr>
              <a:t>Guard rails built 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4187952"/>
            <a:ext cx="3535680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4233672"/>
            <a:ext cx="45720" cy="83791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1520" y="433425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" y="4343400"/>
            <a:ext cx="2785872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Leave blocks tour plans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" y="4580001"/>
            <a:ext cx="2785872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Adding an event on a date the employee is on leave is disabled.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31208" y="4187952"/>
            <a:ext cx="3535680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31208" y="4233672"/>
            <a:ext cx="45720" cy="837910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95800" y="4334256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8136" y="4343400"/>
            <a:ext cx="2785872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No duplicate entries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8136" y="4580001"/>
            <a:ext cx="2785872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Submitting the same plan twice for the same date is rejected.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5488" y="4187952"/>
            <a:ext cx="3535680" cy="929350"/>
          </a:xfrm>
          <a:prstGeom prst="roundRect">
            <a:avLst>
              <a:gd name="adj" fmla="val 8855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95488" y="4233672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60080" y="4334256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62416" y="4343400"/>
            <a:ext cx="2785872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Ownership is explicit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62416" y="4580001"/>
            <a:ext cx="2785872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Only the creator sees Remove; shared users see Join.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5440680"/>
            <a:ext cx="11064240" cy="731520"/>
          </a:xfrm>
          <a:prstGeom prst="round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561441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FB2F2"/>
                </a:solidFill>
                <a:latin typeface="Segoe UI"/>
              </a:rPr>
              <a:t>BE plans and closes.</a:t>
            </a:r>
            <a:r>
              <a:rPr sz="1300" b="0">
                <a:solidFill>
                  <a:srgbClr val="C7D4E8"/>
                </a:solidFill>
                <a:latin typeface="Segoe UI"/>
              </a:rPr>
              <a:t>   </a:t>
            </a:r>
            <a:r>
              <a:rPr sz="1300" b="1">
                <a:solidFill>
                  <a:srgbClr val="FFFFFF"/>
                </a:solidFill>
                <a:latin typeface="Segoe UI"/>
              </a:rPr>
              <a:t>ABM reads, joins and directs.</a:t>
            </a:r>
            <a:r>
              <a:rPr sz="1300" b="0">
                <a:solidFill>
                  <a:srgbClr val="C7D4E8"/>
                </a:solidFill>
                <a:latin typeface="Segoe UI"/>
              </a:rPr>
              <a:t>   One calendar carries both.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